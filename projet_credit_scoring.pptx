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9"/>
  </p:notesMasterIdLst>
  <p:sldIdLst>
    <p:sldId id="258" r:id="rId2"/>
    <p:sldId id="268" r:id="rId3"/>
    <p:sldId id="260" r:id="rId4"/>
    <p:sldId id="266" r:id="rId5"/>
    <p:sldId id="267" r:id="rId6"/>
    <p:sldId id="265" r:id="rId7"/>
    <p:sldId id="264" r:id="rId8"/>
    <p:sldId id="263" r:id="rId9"/>
    <p:sldId id="262" r:id="rId10"/>
    <p:sldId id="269" r:id="rId11"/>
    <p:sldId id="261" r:id="rId12"/>
    <p:sldId id="270" r:id="rId13"/>
    <p:sldId id="272" r:id="rId14"/>
    <p:sldId id="273" r:id="rId15"/>
    <p:sldId id="271" r:id="rId16"/>
    <p:sldId id="275" r:id="rId17"/>
    <p:sldId id="27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EEF9B-9705-40CB-BC23-7F0173BF5BDC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EE4AA-B88F-4861-837B-A49F3EDFE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43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513E-B813-E3A0-383A-3A107EC7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61072D1-AD35-28A2-6940-50A73D21D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3BC584C-EE70-5BD2-99D6-52A153FEA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6B4931-8210-34B1-006D-3AB20F5F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EE4AA-B88F-4861-837B-A49F3EDFE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1377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EE4AA-B88F-4861-837B-A49F3EDFED7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8485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projet de </a:t>
            </a:r>
            <a:r>
              <a:rPr lang="fr-FR" b="1" dirty="0" err="1">
                <a:solidFill>
                  <a:schemeClr val="tx1"/>
                </a:solidFill>
              </a:rPr>
              <a:t>credit</a:t>
            </a: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b="1" dirty="0" err="1">
                <a:solidFill>
                  <a:schemeClr val="tx1"/>
                </a:solidFill>
              </a:rPr>
              <a:t>scoring</a:t>
            </a:r>
            <a:r>
              <a:rPr lang="fr-FR" dirty="0">
                <a:solidFill>
                  <a:schemeClr val="tx1"/>
                </a:solidFill>
              </a:rPr>
              <a:t> vise à prédire le risque de défaut de paiement d’un client à partir de variables numériques et catégoriques.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Les données ont été explorées, nettoyées et préparées afin de les rendre exploitables pour le Machine Learning.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Plusieurs modèles (KNN, Arbre de Décision, </a:t>
            </a:r>
            <a:r>
              <a:rPr lang="fr-FR" dirty="0" err="1">
                <a:solidFill>
                  <a:schemeClr val="tx1"/>
                </a:solidFill>
              </a:rPr>
              <a:t>Random</a:t>
            </a:r>
            <a:r>
              <a:rPr lang="fr-FR" dirty="0">
                <a:solidFill>
                  <a:schemeClr val="tx1"/>
                </a:solidFill>
              </a:rPr>
              <a:t> Forest) ont été testés et comparés.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L’évaluation via la matrice de confusion, le </a:t>
            </a:r>
            <a:r>
              <a:rPr lang="fr-FR" dirty="0" err="1">
                <a:solidFill>
                  <a:schemeClr val="tx1"/>
                </a:solidFill>
              </a:rPr>
              <a:t>recall</a:t>
            </a:r>
            <a:r>
              <a:rPr lang="fr-FR" dirty="0">
                <a:solidFill>
                  <a:schemeClr val="tx1"/>
                </a:solidFill>
              </a:rPr>
              <a:t> et l’AUC a permis d’identifier les performances des modèles.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L’utilisation de </a:t>
            </a:r>
            <a:r>
              <a:rPr lang="fr-FR" b="1" dirty="0" err="1">
                <a:solidFill>
                  <a:schemeClr val="tx1"/>
                </a:solidFill>
              </a:rPr>
              <a:t>MLflow</a:t>
            </a:r>
            <a:r>
              <a:rPr lang="fr-FR" dirty="0">
                <a:solidFill>
                  <a:schemeClr val="tx1"/>
                </a:solidFill>
              </a:rPr>
              <a:t> a assuré le suivi et la traçabilité des expériences. 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Les résultats montrent que le Machine Learning est efficace pour le </a:t>
            </a:r>
            <a:r>
              <a:rPr lang="fr-FR" dirty="0" err="1">
                <a:solidFill>
                  <a:schemeClr val="tx1"/>
                </a:solidFill>
              </a:rPr>
              <a:t>scoring</a:t>
            </a:r>
            <a:r>
              <a:rPr lang="fr-FR" dirty="0">
                <a:solidFill>
                  <a:schemeClr val="tx1"/>
                </a:solidFill>
              </a:rPr>
              <a:t> de crédit.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Ce système peut aider les banques à mieux gérer le risque financier.</a:t>
            </a:r>
            <a:br>
              <a:rPr lang="fr-FR" dirty="0">
                <a:solidFill>
                  <a:schemeClr val="tx1"/>
                </a:solidFill>
              </a:rPr>
            </a:br>
            <a:r>
              <a:rPr lang="fr-FR" dirty="0">
                <a:solidFill>
                  <a:schemeClr val="tx1"/>
                </a:solidFill>
              </a:rPr>
              <a:t>Des améliorations futures peuvent encore optimiser la performance des modèles.</a:t>
            </a:r>
          </a:p>
          <a:p>
            <a:pPr algn="ctr"/>
            <a:endParaRPr lang="fr-FR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EE4AA-B88F-4861-837B-A49F3EDFE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996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80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893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73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455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27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9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12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7849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610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09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4548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1608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1919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984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560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55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E51B2-4C3F-4961-8985-9F52105D6C08}" type="datetimeFigureOut">
              <a:rPr lang="fr-FR" smtClean="0"/>
              <a:t>18/04/2026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2638AB3-7331-44DB-94B6-1A22A7EA7C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6141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83DCCF-2905-2D7C-6A4E-66CB29C8AB70}"/>
              </a:ext>
            </a:extLst>
          </p:cNvPr>
          <p:cNvSpPr txBox="1">
            <a:spLocks/>
          </p:cNvSpPr>
          <p:nvPr/>
        </p:nvSpPr>
        <p:spPr>
          <a:xfrm>
            <a:off x="1499761" y="1136956"/>
            <a:ext cx="9736595" cy="2292044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 MACHINE LEARNING M2     	BIG DATA  ANALYTICS UIYA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15999-49A4-6176-4D13-6FD95C5FCBA9}"/>
              </a:ext>
            </a:extLst>
          </p:cNvPr>
          <p:cNvSpPr/>
          <p:nvPr/>
        </p:nvSpPr>
        <p:spPr>
          <a:xfrm>
            <a:off x="0" y="0"/>
            <a:ext cx="2518348" cy="144365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594FCF-3A18-8AA1-D723-0327FED084AE}"/>
              </a:ext>
            </a:extLst>
          </p:cNvPr>
          <p:cNvSpPr/>
          <p:nvPr/>
        </p:nvSpPr>
        <p:spPr>
          <a:xfrm>
            <a:off x="9950245" y="13056"/>
            <a:ext cx="2241755" cy="143059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EFAF2F5E-4A1C-BA66-9577-115D25E7CB09}"/>
              </a:ext>
            </a:extLst>
          </p:cNvPr>
          <p:cNvSpPr txBox="1">
            <a:spLocks/>
          </p:cNvSpPr>
          <p:nvPr/>
        </p:nvSpPr>
        <p:spPr>
          <a:xfrm>
            <a:off x="1448787" y="3368485"/>
            <a:ext cx="9294425" cy="467259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err="1"/>
              <a:t>Credit</a:t>
            </a:r>
            <a:r>
              <a:rPr lang="fr-FR" dirty="0"/>
              <a:t> </a:t>
            </a:r>
            <a:r>
              <a:rPr lang="fr-FR" dirty="0" err="1"/>
              <a:t>Scoring</a:t>
            </a:r>
            <a:r>
              <a:rPr lang="fr-FR" dirty="0"/>
              <a:t> – Prédiction du Risque de Défaut de Paiement.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029CF3-0398-51F9-891B-BFA859A1791F}"/>
              </a:ext>
            </a:extLst>
          </p:cNvPr>
          <p:cNvSpPr txBox="1"/>
          <p:nvPr/>
        </p:nvSpPr>
        <p:spPr>
          <a:xfrm>
            <a:off x="3136490" y="6369167"/>
            <a:ext cx="367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ANNEE ACADEMIQUE : 2025-2026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B0A9B57-7154-6A2A-A74C-6FC6BC1E7192}"/>
              </a:ext>
            </a:extLst>
          </p:cNvPr>
          <p:cNvSpPr txBox="1"/>
          <p:nvPr/>
        </p:nvSpPr>
        <p:spPr>
          <a:xfrm>
            <a:off x="179882" y="5630503"/>
            <a:ext cx="2338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u="sng" dirty="0"/>
              <a:t>ENSEIGNENANT</a:t>
            </a:r>
            <a:r>
              <a:rPr lang="fr-FR" dirty="0"/>
              <a:t> : </a:t>
            </a:r>
          </a:p>
          <a:p>
            <a:pPr algn="ctr"/>
            <a:r>
              <a:rPr lang="fr-FR" dirty="0"/>
              <a:t>M MANOUAN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E216CA6-F337-8173-AED8-E59206137180}"/>
              </a:ext>
            </a:extLst>
          </p:cNvPr>
          <p:cNvSpPr txBox="1"/>
          <p:nvPr/>
        </p:nvSpPr>
        <p:spPr>
          <a:xfrm>
            <a:off x="9055511" y="5630503"/>
            <a:ext cx="2856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u="sng" dirty="0"/>
              <a:t>REALISE PAR </a:t>
            </a:r>
            <a:r>
              <a:rPr lang="fr-FR" dirty="0"/>
              <a:t>: </a:t>
            </a:r>
          </a:p>
          <a:p>
            <a:pPr algn="ctr"/>
            <a:r>
              <a:rPr lang="fr-FR" dirty="0"/>
              <a:t>DOUA JEAN-BAPTISTE.</a:t>
            </a:r>
          </a:p>
          <a:p>
            <a:pPr algn="ctr"/>
            <a:r>
              <a:rPr lang="fr-FR" dirty="0"/>
              <a:t>ESSE KOUASSI EMMANUEL</a:t>
            </a:r>
          </a:p>
        </p:txBody>
      </p:sp>
    </p:spTree>
    <p:extLst>
      <p:ext uri="{BB962C8B-B14F-4D97-AF65-F5344CB8AC3E}">
        <p14:creationId xmlns:p14="http://schemas.microsoft.com/office/powerpoint/2010/main" val="4167170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CBCEF-50FB-532C-2937-D824A42E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E6F08-7F86-0C71-783A-6F2D1AF3F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436" y="140273"/>
            <a:ext cx="5567597" cy="804107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7B070B-005B-87D8-F39B-49A624937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4475" y="2073483"/>
            <a:ext cx="431226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et objectifs du projet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BD1A2B-AFCD-C4B0-48D4-C36552EA2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562" y="3267976"/>
            <a:ext cx="41516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et suivi des expériences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6034611-C481-3E6A-EB15-597B2B94BA1E}"/>
              </a:ext>
            </a:extLst>
          </p:cNvPr>
          <p:cNvSpPr/>
          <p:nvPr/>
        </p:nvSpPr>
        <p:spPr>
          <a:xfrm>
            <a:off x="5981719" y="4497448"/>
            <a:ext cx="734961" cy="5450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VI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1C07C4C-5977-9CE1-BFE5-00403F0DB5E0}"/>
              </a:ext>
            </a:extLst>
          </p:cNvPr>
          <p:cNvSpPr/>
          <p:nvPr/>
        </p:nvSpPr>
        <p:spPr>
          <a:xfrm>
            <a:off x="5961813" y="3310342"/>
            <a:ext cx="696842" cy="5004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E44A63B-3C40-5957-375A-6CA1CB092A55}"/>
              </a:ext>
            </a:extLst>
          </p:cNvPr>
          <p:cNvSpPr/>
          <p:nvPr/>
        </p:nvSpPr>
        <p:spPr>
          <a:xfrm>
            <a:off x="5981719" y="2103982"/>
            <a:ext cx="696842" cy="5004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IV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C79B2234-C64A-08EF-0B89-5C31CDDDD18D}"/>
              </a:ext>
            </a:extLst>
          </p:cNvPr>
          <p:cNvSpPr/>
          <p:nvPr/>
        </p:nvSpPr>
        <p:spPr>
          <a:xfrm>
            <a:off x="538313" y="4633781"/>
            <a:ext cx="582561" cy="4087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III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6982B1E-29CB-E2FF-27E7-5C6DFD5C25EA}"/>
              </a:ext>
            </a:extLst>
          </p:cNvPr>
          <p:cNvSpPr/>
          <p:nvPr/>
        </p:nvSpPr>
        <p:spPr>
          <a:xfrm>
            <a:off x="464574" y="3399501"/>
            <a:ext cx="582561" cy="4087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II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06A30C4C-DB18-8F72-2506-0CE0C7C367C5}"/>
              </a:ext>
            </a:extLst>
          </p:cNvPr>
          <p:cNvSpPr/>
          <p:nvPr/>
        </p:nvSpPr>
        <p:spPr>
          <a:xfrm>
            <a:off x="464573" y="2192978"/>
            <a:ext cx="582561" cy="3933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55FAAFF-FE44-092D-4B58-0E8BFD5A3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619" y="3310342"/>
            <a:ext cx="378132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Font typeface="Wingdings 3" charset="2"/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du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13E3E169-64F6-4CB7-1ECA-C97CFDA9C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023" y="4565491"/>
            <a:ext cx="363052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Font typeface="Wingdings 3" charset="2"/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et variables utilisées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A4A5AE2-068C-7FC9-5A58-F11126489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562" y="2020828"/>
            <a:ext cx="380750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Préparation des données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6DCA6C3-654D-4FCC-2A7C-0C1E0216B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2626" y="4429242"/>
            <a:ext cx="38075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Résultats et conclusion</a:t>
            </a:r>
            <a:endParaRPr lang="fr-FR" alt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0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176DD-B118-F59A-3880-804ED4F4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0271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CONTEXTE ET OBJECTIFS DU PROJET</a:t>
            </a:r>
            <a:b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A8B13B-20C8-DE52-6E3E-028AC56FCBCE}"/>
              </a:ext>
            </a:extLst>
          </p:cNvPr>
          <p:cNvSpPr txBox="1"/>
          <p:nvPr/>
        </p:nvSpPr>
        <p:spPr>
          <a:xfrm>
            <a:off x="677334" y="3143834"/>
            <a:ext cx="109877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Qu’est-ce que le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utilisée par les banques pour évaluer les clients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prédire la capacité de remboursement d’un prêt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Basé sur des données clients (revenu, âge, historique, etc.)</a:t>
            </a:r>
          </a:p>
          <a:p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19483-67F8-44DB-74EC-6CEA98342010}"/>
              </a:ext>
            </a:extLst>
          </p:cNvPr>
          <p:cNvSpPr/>
          <p:nvPr/>
        </p:nvSpPr>
        <p:spPr>
          <a:xfrm>
            <a:off x="353960" y="1986115"/>
            <a:ext cx="3967317" cy="707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fr-FR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</a:p>
        </p:txBody>
      </p:sp>
    </p:spTree>
    <p:extLst>
      <p:ext uri="{BB962C8B-B14F-4D97-AF65-F5344CB8AC3E}">
        <p14:creationId xmlns:p14="http://schemas.microsoft.com/office/powerpoint/2010/main" val="3538571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5F31-1FBD-AB23-D623-0ED6F53E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BC93A7-D2F1-08D8-6AD3-6BF1C0BA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4" y="1656734"/>
            <a:ext cx="5442155" cy="54077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OBJECTIF DU PROJET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EDA906-C242-99A4-5B1D-22B5C4045A05}"/>
              </a:ext>
            </a:extLst>
          </p:cNvPr>
          <p:cNvSpPr txBox="1"/>
          <p:nvPr/>
        </p:nvSpPr>
        <p:spPr>
          <a:xfrm>
            <a:off x="412955" y="2994656"/>
            <a:ext cx="113175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Construire un modèle de Machine Learning capable de prédire :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Si un client va rembourser son prêt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Ou s’il va être en défaut de paiement 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cible :</a:t>
            </a:r>
          </a:p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= Pas de défaut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= Défaut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726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A755-7026-2B79-7910-C9343D0D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BB684-6C9D-7C08-DF47-59A50793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II. IMPORTANCE DU PROJET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BE296A-5383-8317-683F-10AAD7F196CD}"/>
              </a:ext>
            </a:extLst>
          </p:cNvPr>
          <p:cNvSpPr txBox="1"/>
          <p:nvPr/>
        </p:nvSpPr>
        <p:spPr>
          <a:xfrm>
            <a:off x="677334" y="1930400"/>
            <a:ext cx="10515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Réduction des pertes financières des banques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Meilleure prise de décision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Automatisation de l’octroi de crédit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Évaluation rapide et fiable des clients</a:t>
            </a:r>
          </a:p>
        </p:txBody>
      </p:sp>
    </p:spTree>
    <p:extLst>
      <p:ext uri="{BB962C8B-B14F-4D97-AF65-F5344CB8AC3E}">
        <p14:creationId xmlns:p14="http://schemas.microsoft.com/office/powerpoint/2010/main" val="422552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C182-2CF4-9599-1DBE-C8F6DF2A8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CAF25-DF99-D52B-FDC9-4BACF7A6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383956" cy="806245"/>
          </a:xfrm>
        </p:spPr>
        <p:txBody>
          <a:bodyPr>
            <a:normAutofit fontScale="90000"/>
          </a:bodyPr>
          <a:lstStyle/>
          <a:p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III. DONNEES ET VARIABLES UTILISEES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8251788-0599-476E-B632-D0A7ABBF3D81}"/>
              </a:ext>
            </a:extLst>
          </p:cNvPr>
          <p:cNvSpPr txBox="1"/>
          <p:nvPr/>
        </p:nvSpPr>
        <p:spPr>
          <a:xfrm>
            <a:off x="412028" y="2950198"/>
            <a:ext cx="1064926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des données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Préparation des données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 Machine Learning</a:t>
            </a: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des modèles avec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178258-9A26-F7D1-0796-F1433B06B731}"/>
              </a:ext>
            </a:extLst>
          </p:cNvPr>
          <p:cNvSpPr/>
          <p:nvPr/>
        </p:nvSpPr>
        <p:spPr>
          <a:xfrm>
            <a:off x="-324465" y="2050547"/>
            <a:ext cx="3377381" cy="471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DONNEES</a:t>
            </a:r>
            <a:endParaRPr lang="fr-FR" sz="2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88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E01C-C0B0-8651-B998-990387B2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3369B-E7A2-AC12-339A-06436C4A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432" y="489895"/>
            <a:ext cx="6117847" cy="732503"/>
          </a:xfrm>
        </p:spPr>
        <p:txBody>
          <a:bodyPr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VARIABLES UTILISÉES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D13F309-8AD8-A3C5-2763-EAECB08DBE9D}"/>
              </a:ext>
            </a:extLst>
          </p:cNvPr>
          <p:cNvSpPr txBox="1"/>
          <p:nvPr/>
        </p:nvSpPr>
        <p:spPr>
          <a:xfrm>
            <a:off x="351021" y="1182231"/>
            <a:ext cx="27756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Numériques (7)</a:t>
            </a: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Âge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Montant_Crédit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Durée_Mois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5A0678-8FCA-596A-6646-E8AC5D94F5AA}"/>
              </a:ext>
            </a:extLst>
          </p:cNvPr>
          <p:cNvSpPr/>
          <p:nvPr/>
        </p:nvSpPr>
        <p:spPr>
          <a:xfrm>
            <a:off x="593762" y="3856704"/>
            <a:ext cx="4243709" cy="2293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Catégoriques (5)</a:t>
            </a:r>
          </a:p>
          <a:p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Statut_Emploi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Niveau_Education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Type_Propriété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Historique_Crédit</a:t>
            </a: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Objet_Crédit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6FC5E9-7A3E-F505-2E33-7F5834006934}"/>
              </a:ext>
            </a:extLst>
          </p:cNvPr>
          <p:cNvSpPr/>
          <p:nvPr/>
        </p:nvSpPr>
        <p:spPr>
          <a:xfrm>
            <a:off x="4946715" y="1517366"/>
            <a:ext cx="3651593" cy="1268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Score_Crédit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Nb_Crédit_Précédents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Ratio_Dette_Revenu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81000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9F319-19E7-9CDD-B074-CD1E2AF7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FAB72A-F232-3BD2-E42F-8CAC6D05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PRÉPARATION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E57AC90-76A3-4CB9-A2A8-CA122D9CB008}"/>
              </a:ext>
            </a:extLst>
          </p:cNvPr>
          <p:cNvSpPr txBox="1"/>
          <p:nvPr/>
        </p:nvSpPr>
        <p:spPr>
          <a:xfrm>
            <a:off x="306027" y="1745734"/>
            <a:ext cx="88084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Nettoyage des données</a:t>
            </a:r>
          </a:p>
          <a:p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valeurs manquantes</a:t>
            </a:r>
          </a:p>
          <a:p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Encodage des variables catégorielles</a:t>
            </a:r>
          </a:p>
          <a:p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des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modeles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Matrice de confusion</a:t>
            </a:r>
          </a:p>
        </p:txBody>
      </p:sp>
    </p:spTree>
    <p:extLst>
      <p:ext uri="{BB962C8B-B14F-4D97-AF65-F5344CB8AC3E}">
        <p14:creationId xmlns:p14="http://schemas.microsoft.com/office/powerpoint/2010/main" val="2126488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6E99-E4EC-7250-1B0B-807418F5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86CEC-65AD-0B04-A65A-78A48D70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lphaLcParenR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Nettoyage des données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7F3F6-7A9D-E488-313D-629CE2DBC425}"/>
              </a:ext>
            </a:extLst>
          </p:cNvPr>
          <p:cNvSpPr/>
          <p:nvPr/>
        </p:nvSpPr>
        <p:spPr>
          <a:xfrm>
            <a:off x="0" y="1560786"/>
            <a:ext cx="12192000" cy="529721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705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3FE06B-8D2B-2247-04B5-D1FCCCF954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318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3F30A-3FC3-F1F8-A8EA-BE454C80F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2E6DFC-586F-8AB3-1B42-FEF681E2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576" y="499241"/>
            <a:ext cx="8596668" cy="74623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Gestion des valeurs manquantes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64521-EAF3-9F89-4E9E-B0B1D0F644EF}"/>
              </a:ext>
            </a:extLst>
          </p:cNvPr>
          <p:cNvSpPr/>
          <p:nvPr/>
        </p:nvSpPr>
        <p:spPr>
          <a:xfrm>
            <a:off x="126124" y="1245475"/>
            <a:ext cx="12065876" cy="561252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635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17B297-6F28-D29C-9C5A-30C0A9A68492}"/>
              </a:ext>
            </a:extLst>
          </p:cNvPr>
          <p:cNvSpPr/>
          <p:nvPr/>
        </p:nvSpPr>
        <p:spPr>
          <a:xfrm>
            <a:off x="2806262" y="394138"/>
            <a:ext cx="5796455" cy="1198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Comparaison des modèles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478217-FA7E-0F80-4E00-095F85761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3" y="1592317"/>
            <a:ext cx="8766305" cy="479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60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FBF6B-61C9-554B-8400-60EF73B7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58AB21-F00C-5FE4-67D6-3845D185A940}"/>
              </a:ext>
            </a:extLst>
          </p:cNvPr>
          <p:cNvSpPr/>
          <p:nvPr/>
        </p:nvSpPr>
        <p:spPr>
          <a:xfrm>
            <a:off x="2617076" y="0"/>
            <a:ext cx="5722883" cy="89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Matrice de confusion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68FCF-0BFD-C35B-DE91-7A15CCAB7F73}"/>
              </a:ext>
            </a:extLst>
          </p:cNvPr>
          <p:cNvSpPr/>
          <p:nvPr/>
        </p:nvSpPr>
        <p:spPr>
          <a:xfrm>
            <a:off x="141890" y="2490952"/>
            <a:ext cx="12050110" cy="436704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39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3C7E-736D-9E8F-BF25-4209CE55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1A8EB-128F-452F-6AB2-8E9FBEC88B7A}"/>
              </a:ext>
            </a:extLst>
          </p:cNvPr>
          <p:cNvSpPr/>
          <p:nvPr/>
        </p:nvSpPr>
        <p:spPr>
          <a:xfrm>
            <a:off x="752676" y="1862875"/>
            <a:ext cx="9159765" cy="4351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16606-6BFE-2BA5-4FE5-2CF57233290D}"/>
              </a:ext>
            </a:extLst>
          </p:cNvPr>
          <p:cNvSpPr/>
          <p:nvPr/>
        </p:nvSpPr>
        <p:spPr>
          <a:xfrm>
            <a:off x="2617076" y="0"/>
            <a:ext cx="5722883" cy="89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Interface </a:t>
            </a:r>
            <a:r>
              <a:rPr lang="fr-FR" sz="320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lang="fr-FR" sz="32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48BF51B-ECE6-1212-DCE6-1C616510E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6" y="1862874"/>
            <a:ext cx="11198942" cy="48795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016B58-E51B-8FA8-C0D2-391DC5062B12}"/>
              </a:ext>
            </a:extLst>
          </p:cNvPr>
          <p:cNvSpPr/>
          <p:nvPr/>
        </p:nvSpPr>
        <p:spPr>
          <a:xfrm>
            <a:off x="1674449" y="931437"/>
            <a:ext cx="3658109" cy="89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Runs</a:t>
            </a:r>
          </a:p>
        </p:txBody>
      </p:sp>
    </p:spTree>
    <p:extLst>
      <p:ext uri="{BB962C8B-B14F-4D97-AF65-F5344CB8AC3E}">
        <p14:creationId xmlns:p14="http://schemas.microsoft.com/office/powerpoint/2010/main" val="1665785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5E0F1-FE7B-9881-10C3-B71F58D86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1DF09A-35AA-6947-E10E-3B027159FA34}"/>
              </a:ext>
            </a:extLst>
          </p:cNvPr>
          <p:cNvSpPr/>
          <p:nvPr/>
        </p:nvSpPr>
        <p:spPr>
          <a:xfrm>
            <a:off x="752676" y="1862875"/>
            <a:ext cx="9159765" cy="4351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C397CA-FBBA-246E-0FBB-5367D2068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29" y="1715390"/>
            <a:ext cx="11198942" cy="48795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C4DBD66-E593-6A5F-5DC2-14882382EB9E}"/>
              </a:ext>
            </a:extLst>
          </p:cNvPr>
          <p:cNvSpPr/>
          <p:nvPr/>
        </p:nvSpPr>
        <p:spPr>
          <a:xfrm>
            <a:off x="1925172" y="85003"/>
            <a:ext cx="6363422" cy="89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§"/>
            </a:pPr>
            <a:r>
              <a:rPr lang="fr-FR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métriques du meilleur modèle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5A020C7-3E13-701C-3C90-E9D9C6481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22" y="983638"/>
            <a:ext cx="11724967" cy="540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80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7F637A-269B-64D3-4041-77CBA61E08F5}"/>
              </a:ext>
            </a:extLst>
          </p:cNvPr>
          <p:cNvSpPr/>
          <p:nvPr/>
        </p:nvSpPr>
        <p:spPr>
          <a:xfrm>
            <a:off x="2617076" y="0"/>
            <a:ext cx="5722883" cy="898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Interface utilisateur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62B978-B539-2440-13B6-65A46831D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7729" y="1024630"/>
            <a:ext cx="6194323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4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0E31-C184-060F-ADEF-8D625E320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843854-5FB7-D38D-01AC-290B81A86917}"/>
              </a:ext>
            </a:extLst>
          </p:cNvPr>
          <p:cNvSpPr/>
          <p:nvPr/>
        </p:nvSpPr>
        <p:spPr>
          <a:xfrm>
            <a:off x="1765738" y="236483"/>
            <a:ext cx="7520152" cy="8671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GENERALE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088DE0-97B5-C1A0-60FA-48B2B416771D}"/>
              </a:ext>
            </a:extLst>
          </p:cNvPr>
          <p:cNvSpPr/>
          <p:nvPr/>
        </p:nvSpPr>
        <p:spPr>
          <a:xfrm>
            <a:off x="0" y="1198179"/>
            <a:ext cx="12360166" cy="6085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projet de </a:t>
            </a:r>
            <a:r>
              <a:rPr lang="fr-F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</a:t>
            </a:r>
            <a:r>
              <a:rPr lang="fr-F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vise à prédire le risque de défaut de paiement d’un client à partir de variables numériques et catégoriques. </a:t>
            </a:r>
          </a:p>
          <a:p>
            <a:pPr algn="ctr"/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ont été explorées, nettoyées et préparées afin de les rendre exploitables pour le Machine Learning.</a:t>
            </a:r>
          </a:p>
          <a:p>
            <a:pPr algn="ctr"/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Plusieurs modèles (KNN, Arbre de Décision, </a:t>
            </a:r>
            <a:r>
              <a:rPr lang="fr-F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Forest) ont été testés et comparés.</a:t>
            </a:r>
            <a:b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L’évaluation via la matrice de confusion, le </a:t>
            </a:r>
            <a:r>
              <a:rPr lang="fr-F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l’AUC a permis d’identifier les performances des modèles.</a:t>
            </a:r>
            <a:b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L’utilisation de </a:t>
            </a:r>
            <a:r>
              <a:rPr lang="fr-F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assuré le suivi et la traçabilité des expériences. </a:t>
            </a:r>
          </a:p>
          <a:p>
            <a:pPr algn="ctr"/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résultats montrent que le Machine Learning est efficace pour le </a:t>
            </a:r>
            <a:r>
              <a:rPr lang="fr-F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crédit.</a:t>
            </a:r>
            <a:b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système peut aider les banques à mieux gérer le risque financier.</a:t>
            </a:r>
            <a:b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améliorations futures peuvent encore optimiser la performance des modèles.</a:t>
            </a:r>
          </a:p>
          <a:p>
            <a:pPr algn="ctr"/>
            <a:endParaRPr lang="fr-F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36344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342</TotalTime>
  <Words>594</Words>
  <Application>Microsoft Office PowerPoint</Application>
  <PresentationFormat>Grand écran</PresentationFormat>
  <Paragraphs>93</Paragraphs>
  <Slides>17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Wingdings 3</vt:lpstr>
      <vt:lpstr>Facette</vt:lpstr>
      <vt:lpstr>Présentation PowerPoint</vt:lpstr>
      <vt:lpstr>SOMMAIRE</vt:lpstr>
      <vt:lpstr>I. CONTEXTE ET OBJECTIFS DU PROJET </vt:lpstr>
      <vt:lpstr>2. OBJECTIF DU PROJET</vt:lpstr>
      <vt:lpstr>II. IMPORTANCE DU PROJET</vt:lpstr>
      <vt:lpstr>III. DONNEES ET VARIABLES UTILISEES</vt:lpstr>
      <vt:lpstr>2. VARIABLES UTILISÉES</vt:lpstr>
      <vt:lpstr>IV. PRÉPARATION DES DONNÉES</vt:lpstr>
      <vt:lpstr>Nettoyage des données </vt:lpstr>
      <vt:lpstr>Présentation PowerPoint</vt:lpstr>
      <vt:lpstr>b) Gestion des valeurs manquantes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emmanuelesse4@gmail.com</cp:lastModifiedBy>
  <cp:revision>5</cp:revision>
  <dcterms:created xsi:type="dcterms:W3CDTF">2026-04-15T14:52:52Z</dcterms:created>
  <dcterms:modified xsi:type="dcterms:W3CDTF">2026-04-18T19:53:37Z</dcterms:modified>
</cp:coreProperties>
</file>